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j1VEIzuXCJ8JP7Rj2nl8xg7SFc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A47A8E-1350-4F44-8425-2DDE26BB3226}">
  <a:tblStyle styleId="{E9A47A8E-1350-4F44-8425-2DDE26BB3226}"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 name="Google Shape;10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6f9e918161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6f9e918161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6f9e918161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4118d86ed3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g34118d86ed3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g34118d86ed3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
        <p:nvSpPr>
          <p:cNvPr id="33" name="Google Shape;33;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9" name="Google Shape;39;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2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2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2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2"/>
          <p:cNvSpPr/>
          <p:nvPr>
            <p:ph idx="2" type="pic"/>
          </p:nvPr>
        </p:nvSpPr>
        <p:spPr>
          <a:xfrm>
            <a:off x="5183188" y="987425"/>
            <a:ext cx="6172200" cy="4873625"/>
          </a:xfrm>
          <a:prstGeom prst="rect">
            <a:avLst/>
          </a:prstGeom>
          <a:noFill/>
          <a:ln>
            <a:noFill/>
          </a:ln>
        </p:spPr>
      </p:sp>
      <p:sp>
        <p:nvSpPr>
          <p:cNvPr id="68" name="Google Shape;68;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
          <p:cNvPicPr preferRelativeResize="0"/>
          <p:nvPr/>
        </p:nvPicPr>
        <p:blipFill rotWithShape="1">
          <a:blip r:embed="rId3">
            <a:alphaModFix amt="35000"/>
          </a:blip>
          <a:srcRect b="0" l="0" r="0" t="0"/>
          <a:stretch/>
        </p:blipFill>
        <p:spPr>
          <a:xfrm>
            <a:off x="664932" y="0"/>
            <a:ext cx="10589342" cy="6858001"/>
          </a:xfrm>
          <a:prstGeom prst="rect">
            <a:avLst/>
          </a:prstGeom>
          <a:noFill/>
          <a:ln>
            <a:noFill/>
          </a:ln>
          <a:effectLst>
            <a:outerShdw blurRad="328613" rotWithShape="0" algn="bl" dir="840000" dist="19050">
              <a:srgbClr val="FFFFFF">
                <a:alpha val="0"/>
              </a:srgbClr>
            </a:outerShdw>
          </a:effectLst>
        </p:spPr>
      </p:pic>
      <p:sp>
        <p:nvSpPr>
          <p:cNvPr id="89" name="Google Shape;89;p1"/>
          <p:cNvSpPr txBox="1"/>
          <p:nvPr>
            <p:ph type="ctrTitle"/>
          </p:nvPr>
        </p:nvSpPr>
        <p:spPr>
          <a:xfrm>
            <a:off x="100" y="0"/>
            <a:ext cx="12192000" cy="6858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100"/>
              <a:buFont typeface="Arial"/>
              <a:buNone/>
            </a:pPr>
            <a:r>
              <a:rPr b="1" lang="en-US" sz="2700">
                <a:latin typeface="Verdana"/>
                <a:ea typeface="Verdana"/>
                <a:cs typeface="Verdana"/>
                <a:sym typeface="Verdana"/>
              </a:rPr>
              <a:t>INSURANCE PREMIUM ANALYSIS</a:t>
            </a:r>
            <a:endParaRPr b="1" sz="2700">
              <a:latin typeface="Verdana"/>
              <a:ea typeface="Verdana"/>
              <a:cs typeface="Verdana"/>
              <a:sym typeface="Verdana"/>
            </a:endParaRPr>
          </a:p>
          <a:p>
            <a:pPr indent="0" lvl="0" marL="171450" rtl="0" algn="ctr">
              <a:lnSpc>
                <a:spcPct val="90000"/>
              </a:lnSpc>
              <a:spcBef>
                <a:spcPts val="0"/>
              </a:spcBef>
              <a:spcAft>
                <a:spcPts val="0"/>
              </a:spcAft>
              <a:buClr>
                <a:schemeClr val="dk1"/>
              </a:buClr>
              <a:buSzPts val="3600"/>
              <a:buFont typeface="Calibri"/>
              <a:buNone/>
            </a:pPr>
            <a:r>
              <a:rPr i="1" lang="en-US" sz="1800">
                <a:latin typeface="Georgia"/>
                <a:ea typeface="Georgia"/>
                <a:cs typeface="Georgia"/>
                <a:sym typeface="Georgia"/>
              </a:rPr>
              <a:t>Understanding Factors Affecting Insurance Costs</a:t>
            </a:r>
            <a:endParaRPr i="1" sz="1800">
              <a:latin typeface="Georgia"/>
              <a:ea typeface="Georgia"/>
              <a:cs typeface="Georgia"/>
              <a:sym typeface="Georgia"/>
            </a:endParaRPr>
          </a:p>
        </p:txBody>
      </p:sp>
      <p:sp>
        <p:nvSpPr>
          <p:cNvPr id="90" name="Google Shape;90;p1"/>
          <p:cNvSpPr/>
          <p:nvPr/>
        </p:nvSpPr>
        <p:spPr>
          <a:xfrm>
            <a:off x="9379974" y="5673213"/>
            <a:ext cx="2379406" cy="100289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Calibri"/>
                <a:ea typeface="Calibri"/>
                <a:cs typeface="Calibri"/>
                <a:sym typeface="Calibri"/>
              </a:rPr>
              <a:t>By – KHUSHI PAINTER</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2"/>
          <p:cNvPicPr preferRelativeResize="0"/>
          <p:nvPr/>
        </p:nvPicPr>
        <p:blipFill rotWithShape="1">
          <a:blip r:embed="rId3">
            <a:alphaModFix amt="35000"/>
          </a:blip>
          <a:srcRect b="0" l="0" r="0" t="0"/>
          <a:stretch/>
        </p:blipFill>
        <p:spPr>
          <a:xfrm>
            <a:off x="432620" y="0"/>
            <a:ext cx="10589342" cy="6858001"/>
          </a:xfrm>
          <a:prstGeom prst="rect">
            <a:avLst/>
          </a:prstGeom>
          <a:noFill/>
          <a:ln>
            <a:noFill/>
          </a:ln>
        </p:spPr>
      </p:pic>
      <p:sp>
        <p:nvSpPr>
          <p:cNvPr id="96" name="Google Shape;96;p2"/>
          <p:cNvSpPr txBox="1"/>
          <p:nvPr>
            <p:ph type="ctrTitle"/>
          </p:nvPr>
        </p:nvSpPr>
        <p:spPr>
          <a:xfrm>
            <a:off x="240325" y="195675"/>
            <a:ext cx="7497600" cy="1365300"/>
          </a:xfrm>
          <a:prstGeom prst="rect">
            <a:avLst/>
          </a:prstGeom>
          <a:noFill/>
          <a:ln>
            <a:noFill/>
          </a:ln>
        </p:spPr>
        <p:txBody>
          <a:bodyPr anchorCtr="0" anchor="b" bIns="45700" lIns="0"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en-US"/>
              <a:t>About Company</a:t>
            </a:r>
            <a:endParaRPr/>
          </a:p>
        </p:txBody>
      </p:sp>
      <p:sp>
        <p:nvSpPr>
          <p:cNvPr id="97" name="Google Shape;97;p2"/>
          <p:cNvSpPr txBox="1"/>
          <p:nvPr>
            <p:ph idx="1" type="subTitle"/>
          </p:nvPr>
        </p:nvSpPr>
        <p:spPr>
          <a:xfrm>
            <a:off x="2075000" y="2008675"/>
            <a:ext cx="9416400" cy="2300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I access data from Kaggle.com to analyze insurance charges, also known as premiums. Customers pay these premiums for health insurance, and in return, the insurance company covers their health check-up costs and other medical expenses.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3"/>
          <p:cNvPicPr preferRelativeResize="0"/>
          <p:nvPr/>
        </p:nvPicPr>
        <p:blipFill rotWithShape="1">
          <a:blip r:embed="rId3">
            <a:alphaModFix amt="35000"/>
          </a:blip>
          <a:srcRect b="0" l="0" r="0" t="0"/>
          <a:stretch/>
        </p:blipFill>
        <p:spPr>
          <a:xfrm>
            <a:off x="471949" y="0"/>
            <a:ext cx="10589342" cy="6858001"/>
          </a:xfrm>
          <a:prstGeom prst="rect">
            <a:avLst/>
          </a:prstGeom>
          <a:noFill/>
          <a:ln>
            <a:noFill/>
          </a:ln>
        </p:spPr>
      </p:pic>
      <p:sp>
        <p:nvSpPr>
          <p:cNvPr id="103" name="Google Shape;103;p3"/>
          <p:cNvSpPr txBox="1"/>
          <p:nvPr>
            <p:ph type="ctrTitle"/>
          </p:nvPr>
        </p:nvSpPr>
        <p:spPr>
          <a:xfrm>
            <a:off x="-184450" y="137651"/>
            <a:ext cx="6872700" cy="14133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en-US"/>
              <a:t>Data Source</a:t>
            </a:r>
            <a:endParaRPr/>
          </a:p>
        </p:txBody>
      </p:sp>
      <p:sp>
        <p:nvSpPr>
          <p:cNvPr id="104" name="Google Shape;104;p3"/>
          <p:cNvSpPr txBox="1"/>
          <p:nvPr>
            <p:ph idx="1" type="subTitle"/>
          </p:nvPr>
        </p:nvSpPr>
        <p:spPr>
          <a:xfrm>
            <a:off x="1671484" y="2013154"/>
            <a:ext cx="8504903" cy="260800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We will use available datasets from Kaggle.com , which include information on age, BMI, number of children, smoking status, region, sex, and insurance charges (premiums).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4"/>
          <p:cNvPicPr preferRelativeResize="0"/>
          <p:nvPr/>
        </p:nvPicPr>
        <p:blipFill rotWithShape="1">
          <a:blip r:embed="rId3">
            <a:alphaModFix amt="35000"/>
          </a:blip>
          <a:srcRect b="0" l="0" r="0" t="0"/>
          <a:stretch/>
        </p:blipFill>
        <p:spPr>
          <a:xfrm>
            <a:off x="432620" y="0"/>
            <a:ext cx="10589342" cy="6858001"/>
          </a:xfrm>
          <a:prstGeom prst="rect">
            <a:avLst/>
          </a:prstGeom>
          <a:noFill/>
          <a:ln>
            <a:noFill/>
          </a:ln>
        </p:spPr>
      </p:pic>
      <p:sp>
        <p:nvSpPr>
          <p:cNvPr id="110" name="Google Shape;110;p4"/>
          <p:cNvSpPr txBox="1"/>
          <p:nvPr>
            <p:ph type="ctrTitle"/>
          </p:nvPr>
        </p:nvSpPr>
        <p:spPr>
          <a:xfrm>
            <a:off x="307400" y="0"/>
            <a:ext cx="6648300" cy="15324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en-US"/>
              <a:t>About Project </a:t>
            </a:r>
            <a:endParaRPr/>
          </a:p>
        </p:txBody>
      </p:sp>
      <p:sp>
        <p:nvSpPr>
          <p:cNvPr id="111" name="Google Shape;111;p4"/>
          <p:cNvSpPr txBox="1"/>
          <p:nvPr>
            <p:ph idx="1" type="subTitle"/>
          </p:nvPr>
        </p:nvSpPr>
        <p:spPr>
          <a:xfrm>
            <a:off x="1524000" y="1979716"/>
            <a:ext cx="9851923" cy="3939304"/>
          </a:xfrm>
          <a:prstGeom prst="rect">
            <a:avLst/>
          </a:prstGeom>
          <a:noFill/>
          <a:ln>
            <a:noFill/>
          </a:ln>
        </p:spPr>
        <p:txBody>
          <a:bodyPr anchorCtr="0" anchor="t" bIns="45700" lIns="91425" spcFirstLastPara="1" rIns="91425" wrap="square" tIns="45700">
            <a:normAutofit/>
          </a:bodyPr>
          <a:lstStyle/>
          <a:p>
            <a:pPr indent="-342900" lvl="0" marL="342900" rtl="0" algn="ctr">
              <a:lnSpc>
                <a:spcPct val="90000"/>
              </a:lnSpc>
              <a:spcBef>
                <a:spcPts val="0"/>
              </a:spcBef>
              <a:spcAft>
                <a:spcPts val="0"/>
              </a:spcAft>
              <a:buClr>
                <a:schemeClr val="dk1"/>
              </a:buClr>
              <a:buSzPts val="2400"/>
              <a:buFont typeface="Arial"/>
              <a:buChar char="•"/>
            </a:pPr>
            <a:r>
              <a:rPr lang="en-US"/>
              <a:t>This project will provide valuable insights into the role of BMI in determining health insurance premiums, helping insurance companies optimize their pricing strategies and customers understand how their health metrics influence their insurance costs.</a:t>
            </a:r>
            <a:endParaRPr/>
          </a:p>
          <a:p>
            <a:pPr indent="-342900" lvl="0" marL="742950" rtl="0" algn="ctr">
              <a:lnSpc>
                <a:spcPct val="90000"/>
              </a:lnSpc>
              <a:spcBef>
                <a:spcPts val="1000"/>
              </a:spcBef>
              <a:spcAft>
                <a:spcPts val="0"/>
              </a:spcAft>
              <a:buClr>
                <a:schemeClr val="dk1"/>
              </a:buClr>
              <a:buSzPts val="2400"/>
              <a:buFont typeface="Arial"/>
              <a:buChar char="•"/>
            </a:pPr>
            <a:r>
              <a:rPr lang="en-US"/>
              <a:t>Analyze the impact of Body Mass Index (BMI) on health insurance premiums. This project aims to understand how BMI influences the cost of health insurance and provide insights for both insurers and customers.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5"/>
          <p:cNvPicPr preferRelativeResize="0"/>
          <p:nvPr/>
        </p:nvPicPr>
        <p:blipFill rotWithShape="1">
          <a:blip r:embed="rId3">
            <a:alphaModFix amt="35000"/>
          </a:blip>
          <a:srcRect b="0" l="0" r="0" t="0"/>
          <a:stretch/>
        </p:blipFill>
        <p:spPr>
          <a:xfrm>
            <a:off x="432620" y="0"/>
            <a:ext cx="10589342" cy="6858001"/>
          </a:xfrm>
          <a:prstGeom prst="rect">
            <a:avLst/>
          </a:prstGeom>
          <a:noFill/>
          <a:ln>
            <a:noFill/>
          </a:ln>
        </p:spPr>
      </p:pic>
      <p:sp>
        <p:nvSpPr>
          <p:cNvPr id="117" name="Google Shape;117;p5"/>
          <p:cNvSpPr txBox="1"/>
          <p:nvPr>
            <p:ph type="ctrTitle"/>
          </p:nvPr>
        </p:nvSpPr>
        <p:spPr>
          <a:xfrm>
            <a:off x="2" y="0"/>
            <a:ext cx="5704500" cy="14832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en-US"/>
              <a:t>Objective</a:t>
            </a:r>
            <a:endParaRPr/>
          </a:p>
        </p:txBody>
      </p:sp>
      <p:sp>
        <p:nvSpPr>
          <p:cNvPr id="118" name="Google Shape;118;p5"/>
          <p:cNvSpPr txBox="1"/>
          <p:nvPr>
            <p:ph idx="1" type="subTitle"/>
          </p:nvPr>
        </p:nvSpPr>
        <p:spPr>
          <a:xfrm>
            <a:off x="1828801" y="2040195"/>
            <a:ext cx="9271818" cy="3809999"/>
          </a:xfrm>
          <a:prstGeom prst="rect">
            <a:avLst/>
          </a:prstGeom>
          <a:noFill/>
          <a:ln>
            <a:noFill/>
          </a:ln>
        </p:spPr>
        <p:txBody>
          <a:bodyPr anchorCtr="0" anchor="t" bIns="45700" lIns="91425" spcFirstLastPara="1" rIns="91425" wrap="square" tIns="45700">
            <a:normAutofit lnSpcReduction="10000"/>
          </a:bodyPr>
          <a:lstStyle/>
          <a:p>
            <a:pPr indent="-342900" lvl="0" marL="342900" rtl="0" algn="ctr">
              <a:lnSpc>
                <a:spcPct val="100000"/>
              </a:lnSpc>
              <a:spcBef>
                <a:spcPts val="0"/>
              </a:spcBef>
              <a:spcAft>
                <a:spcPts val="0"/>
              </a:spcAft>
              <a:buClr>
                <a:schemeClr val="dk1"/>
              </a:buClr>
              <a:buSzPts val="2400"/>
              <a:buFont typeface="Arial"/>
              <a:buChar char="•"/>
            </a:pPr>
            <a:r>
              <a:rPr lang="en-US"/>
              <a:t>The purpose of this project is to analyze health insurance premiums to understand the factors that influence them and to provide insights into the pricing structure of health insurance policies. This analysis will help insurance companies optimize their pricing strategies and customers understand their premium costs.</a:t>
            </a:r>
            <a:endParaRPr/>
          </a:p>
          <a:p>
            <a:pPr indent="-342900" lvl="0" marL="342900" rtl="0" algn="ctr">
              <a:lnSpc>
                <a:spcPct val="100000"/>
              </a:lnSpc>
              <a:spcBef>
                <a:spcPts val="1000"/>
              </a:spcBef>
              <a:spcAft>
                <a:spcPts val="0"/>
              </a:spcAft>
              <a:buClr>
                <a:schemeClr val="dk1"/>
              </a:buClr>
              <a:buSzPts val="2400"/>
              <a:buFont typeface="Arial"/>
              <a:buChar char="•"/>
            </a:pPr>
            <a:r>
              <a:rPr lang="en-US"/>
              <a:t>The aim of this project is to analyze the impact of Body Mass Index (BMI) on health insurance premiums. This analysis will help insurance companies understand how BMI influences premium costs and assist customers in understanding how their BMI affects their insurance charges.</a:t>
            </a:r>
            <a:endParaRPr/>
          </a:p>
          <a:p>
            <a:pPr indent="-190500" lvl="0" marL="342900" rtl="0" algn="ctr">
              <a:lnSpc>
                <a:spcPct val="90000"/>
              </a:lnSpc>
              <a:spcBef>
                <a:spcPts val="1000"/>
              </a:spcBef>
              <a:spcAft>
                <a:spcPts val="0"/>
              </a:spcAft>
              <a:buClr>
                <a:schemeClr val="dk1"/>
              </a:buClr>
              <a:buSzPts val="2400"/>
              <a:buFont typeface="Arial"/>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2" name="Shape 122"/>
        <p:cNvGrpSpPr/>
        <p:nvPr/>
      </p:nvGrpSpPr>
      <p:grpSpPr>
        <a:xfrm>
          <a:off x="0" y="0"/>
          <a:ext cx="0" cy="0"/>
          <a:chOff x="0" y="0"/>
          <a:chExt cx="0" cy="0"/>
        </a:xfrm>
      </p:grpSpPr>
      <p:pic>
        <p:nvPicPr>
          <p:cNvPr id="123" name="Google Shape;123;p6"/>
          <p:cNvPicPr preferRelativeResize="0"/>
          <p:nvPr/>
        </p:nvPicPr>
        <p:blipFill rotWithShape="1">
          <a:blip r:embed="rId3">
            <a:alphaModFix amt="35000"/>
          </a:blip>
          <a:srcRect b="0" l="0" r="0" t="0"/>
          <a:stretch/>
        </p:blipFill>
        <p:spPr>
          <a:xfrm>
            <a:off x="432620" y="0"/>
            <a:ext cx="10589342" cy="6858001"/>
          </a:xfrm>
          <a:prstGeom prst="rect">
            <a:avLst/>
          </a:prstGeom>
          <a:noFill/>
          <a:ln>
            <a:noFill/>
          </a:ln>
        </p:spPr>
      </p:pic>
      <p:sp>
        <p:nvSpPr>
          <p:cNvPr id="124" name="Google Shape;124;p6"/>
          <p:cNvSpPr txBox="1"/>
          <p:nvPr>
            <p:ph type="title"/>
          </p:nvPr>
        </p:nvSpPr>
        <p:spPr>
          <a:xfrm>
            <a:off x="1078724" y="414275"/>
            <a:ext cx="8891700" cy="1325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US" sz="6000"/>
              <a:t>Tools and Technologies Used</a:t>
            </a:r>
            <a:endParaRPr b="1" sz="6000"/>
          </a:p>
        </p:txBody>
      </p:sp>
      <p:sp>
        <p:nvSpPr>
          <p:cNvPr id="125" name="Google Shape;125;p6"/>
          <p:cNvSpPr txBox="1"/>
          <p:nvPr>
            <p:ph idx="1" type="body"/>
          </p:nvPr>
        </p:nvSpPr>
        <p:spPr>
          <a:xfrm>
            <a:off x="2211801" y="1941075"/>
            <a:ext cx="9426600" cy="38475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2800"/>
              <a:buNone/>
            </a:pPr>
            <a:r>
              <a:rPr b="1" lang="en-US"/>
              <a:t>MySQL: </a:t>
            </a:r>
            <a:r>
              <a:rPr lang="en-US" sz="2400"/>
              <a:t>For data storage and complex querying.</a:t>
            </a:r>
            <a:endParaRPr/>
          </a:p>
          <a:p>
            <a:pPr indent="0" lvl="0" marL="0" rtl="0" algn="l">
              <a:lnSpc>
                <a:spcPct val="150000"/>
              </a:lnSpc>
              <a:spcBef>
                <a:spcPts val="1000"/>
              </a:spcBef>
              <a:spcAft>
                <a:spcPts val="0"/>
              </a:spcAft>
              <a:buClr>
                <a:schemeClr val="dk1"/>
              </a:buClr>
              <a:buSzPts val="2800"/>
              <a:buNone/>
            </a:pPr>
            <a:r>
              <a:rPr b="1" lang="en-US"/>
              <a:t>Excel: </a:t>
            </a:r>
            <a:r>
              <a:rPr lang="en-US" sz="2400"/>
              <a:t>For data analysis, visualization, and creating dashboards.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7"/>
          <p:cNvPicPr preferRelativeResize="0"/>
          <p:nvPr/>
        </p:nvPicPr>
        <p:blipFill rotWithShape="1">
          <a:blip r:embed="rId3">
            <a:alphaModFix amt="35000"/>
          </a:blip>
          <a:srcRect b="0" l="0" r="0" t="0"/>
          <a:stretch/>
        </p:blipFill>
        <p:spPr>
          <a:xfrm>
            <a:off x="432620" y="0"/>
            <a:ext cx="10589342" cy="6858001"/>
          </a:xfrm>
          <a:prstGeom prst="rect">
            <a:avLst/>
          </a:prstGeom>
          <a:noFill/>
          <a:ln>
            <a:noFill/>
          </a:ln>
        </p:spPr>
      </p:pic>
      <p:sp>
        <p:nvSpPr>
          <p:cNvPr id="131" name="Google Shape;131;p7"/>
          <p:cNvSpPr txBox="1"/>
          <p:nvPr>
            <p:ph type="title"/>
          </p:nvPr>
        </p:nvSpPr>
        <p:spPr>
          <a:xfrm>
            <a:off x="1045200" y="414275"/>
            <a:ext cx="10829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b="1" lang="en-US" sz="6000"/>
              <a:t>About Data in MySQL</a:t>
            </a:r>
            <a:endParaRPr/>
          </a:p>
        </p:txBody>
      </p:sp>
      <p:graphicFrame>
        <p:nvGraphicFramePr>
          <p:cNvPr id="132" name="Google Shape;132;p7"/>
          <p:cNvGraphicFramePr/>
          <p:nvPr/>
        </p:nvGraphicFramePr>
        <p:xfrm>
          <a:off x="1663290" y="2154136"/>
          <a:ext cx="3000000" cy="3000000"/>
        </p:xfrm>
        <a:graphic>
          <a:graphicData uri="http://schemas.openxmlformats.org/drawingml/2006/table">
            <a:tbl>
              <a:tblPr bandRow="1" firstRow="1">
                <a:noFill/>
                <a:tableStyleId>{E9A47A8E-1350-4F44-8425-2DDE26BB3226}</a:tableStyleId>
              </a:tblPr>
              <a:tblGrid>
                <a:gridCol w="1354675"/>
                <a:gridCol w="1354675"/>
                <a:gridCol w="1354675"/>
                <a:gridCol w="1354675"/>
                <a:gridCol w="1354675"/>
                <a:gridCol w="135467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Field</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Type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Null</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Key</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Default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Extra</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Age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Int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YES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a:t>
                      </a:r>
                      <a:endParaRPr sz="1800" u="none" cap="none" strike="noStrike">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NULL</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Sex</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Text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YES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a:t>
                      </a:r>
                      <a:endParaRPr sz="1800" u="none" cap="none" strike="noStrike">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NULL</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Bmi</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Double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YES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a:t>
                      </a:r>
                      <a:endParaRPr sz="1800" u="none" cap="none" strike="noStrike">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NULL</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Children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Int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YES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a:t>
                      </a:r>
                      <a:endParaRPr sz="1800" u="none" cap="none" strike="noStrike">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NULL</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Smoker</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Text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YES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a:t>
                      </a:r>
                      <a:endParaRPr sz="1800" u="none" cap="none" strike="noStrike">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NULL</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Region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Text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YES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a:t>
                      </a:r>
                      <a:endParaRPr sz="1800" u="none" cap="none" strike="noStrike">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NULL</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Charges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Double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YES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a:t>
                      </a:r>
                      <a:endParaRPr sz="1800" u="none" cap="none" strike="noStrike">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NULL</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8"/>
          <p:cNvPicPr preferRelativeResize="0"/>
          <p:nvPr/>
        </p:nvPicPr>
        <p:blipFill rotWithShape="1">
          <a:blip r:embed="rId3">
            <a:alphaModFix amt="35000"/>
          </a:blip>
          <a:srcRect b="0" l="0" r="0" t="0"/>
          <a:stretch/>
        </p:blipFill>
        <p:spPr>
          <a:xfrm>
            <a:off x="486697" y="0"/>
            <a:ext cx="10589342" cy="6858001"/>
          </a:xfrm>
          <a:prstGeom prst="rect">
            <a:avLst/>
          </a:prstGeom>
          <a:noFill/>
          <a:ln>
            <a:noFill/>
          </a:ln>
        </p:spPr>
      </p:pic>
      <p:sp>
        <p:nvSpPr>
          <p:cNvPr id="139" name="Google Shape;139;p8"/>
          <p:cNvSpPr txBox="1"/>
          <p:nvPr>
            <p:ph type="ctrTitle"/>
          </p:nvPr>
        </p:nvSpPr>
        <p:spPr>
          <a:xfrm>
            <a:off x="1118175" y="109500"/>
            <a:ext cx="9326400" cy="14109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b="1" lang="en-US"/>
              <a:t>Body Mass Index (BMI)</a:t>
            </a:r>
            <a:endParaRPr/>
          </a:p>
        </p:txBody>
      </p:sp>
      <p:sp>
        <p:nvSpPr>
          <p:cNvPr id="140" name="Google Shape;140;p8"/>
          <p:cNvSpPr txBox="1"/>
          <p:nvPr>
            <p:ph idx="1" type="subTitle"/>
          </p:nvPr>
        </p:nvSpPr>
        <p:spPr>
          <a:xfrm>
            <a:off x="1115961" y="1986118"/>
            <a:ext cx="10461523" cy="517176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BMI is a measure used to determine if a person has a healthy body weight for a given height. It is a simple calculation that uses a person's weight and height to categorize them into different weight categories such as underweight, normal weight, overweight, and obese.</a:t>
            </a:r>
            <a:endParaRPr/>
          </a:p>
          <a:p>
            <a:pPr indent="0" lvl="0" marL="0" rtl="0" algn="l">
              <a:lnSpc>
                <a:spcPct val="90000"/>
              </a:lnSpc>
              <a:spcBef>
                <a:spcPts val="1000"/>
              </a:spcBef>
              <a:spcAft>
                <a:spcPts val="0"/>
              </a:spcAft>
              <a:buClr>
                <a:schemeClr val="dk1"/>
              </a:buClr>
              <a:buSzPts val="2400"/>
              <a:buNone/>
            </a:pPr>
            <a:r>
              <a:rPr b="1" lang="en-US"/>
              <a:t>     </a:t>
            </a:r>
            <a:r>
              <a:rPr b="1" lang="en-US"/>
              <a:t>Formula for BMI:</a:t>
            </a:r>
            <a:endParaRPr/>
          </a:p>
          <a:p>
            <a:pPr indent="0" lvl="0" marL="0" rtl="0" algn="l">
              <a:lnSpc>
                <a:spcPct val="90000"/>
              </a:lnSpc>
              <a:spcBef>
                <a:spcPts val="1000"/>
              </a:spcBef>
              <a:spcAft>
                <a:spcPts val="0"/>
              </a:spcAft>
              <a:buClr>
                <a:schemeClr val="dk1"/>
              </a:buClr>
              <a:buSzPts val="2400"/>
              <a:buNone/>
            </a:pPr>
            <a:r>
              <a:t/>
            </a:r>
            <a:endParaRPr/>
          </a:p>
          <a:p>
            <a:pPr indent="0" lvl="0" marL="0" rtl="0" algn="l">
              <a:lnSpc>
                <a:spcPct val="90000"/>
              </a:lnSpc>
              <a:spcBef>
                <a:spcPts val="1000"/>
              </a:spcBef>
              <a:spcAft>
                <a:spcPts val="0"/>
              </a:spcAft>
              <a:buClr>
                <a:schemeClr val="dk1"/>
              </a:buClr>
              <a:buSzPts val="2400"/>
              <a:buNone/>
            </a:pPr>
            <a:r>
              <a:t/>
            </a:r>
            <a:endParaRPr/>
          </a:p>
          <a:p>
            <a:pPr indent="0" lvl="0" marL="0" rtl="0" algn="l">
              <a:lnSpc>
                <a:spcPct val="90000"/>
              </a:lnSpc>
              <a:spcBef>
                <a:spcPts val="1000"/>
              </a:spcBef>
              <a:spcAft>
                <a:spcPts val="0"/>
              </a:spcAft>
              <a:buClr>
                <a:schemeClr val="dk1"/>
              </a:buClr>
              <a:buSzPts val="2400"/>
              <a:buNone/>
            </a:pPr>
            <a:r>
              <a:t/>
            </a:r>
            <a:endParaRPr/>
          </a:p>
          <a:p>
            <a:pPr indent="0" lvl="0" marL="0" rtl="0" algn="l">
              <a:lnSpc>
                <a:spcPct val="90000"/>
              </a:lnSpc>
              <a:spcBef>
                <a:spcPts val="1000"/>
              </a:spcBef>
              <a:spcAft>
                <a:spcPts val="0"/>
              </a:spcAft>
              <a:buClr>
                <a:schemeClr val="dk1"/>
              </a:buClr>
              <a:buSzPts val="2400"/>
              <a:buNone/>
            </a:pPr>
            <a:r>
              <a:t/>
            </a:r>
            <a:endParaRPr b="1"/>
          </a:p>
          <a:p>
            <a:pPr indent="0" lvl="0" marL="0" rtl="0" algn="l">
              <a:lnSpc>
                <a:spcPct val="90000"/>
              </a:lnSpc>
              <a:spcBef>
                <a:spcPts val="1000"/>
              </a:spcBef>
              <a:spcAft>
                <a:spcPts val="0"/>
              </a:spcAft>
              <a:buClr>
                <a:schemeClr val="dk1"/>
              </a:buClr>
              <a:buSzPts val="2400"/>
              <a:buNone/>
            </a:pPr>
            <a:r>
              <a:t/>
            </a:r>
            <a:endParaRPr/>
          </a:p>
          <a:p>
            <a:pPr indent="0" lvl="0" marL="0" rtl="0" algn="l">
              <a:lnSpc>
                <a:spcPct val="90000"/>
              </a:lnSpc>
              <a:spcBef>
                <a:spcPts val="1000"/>
              </a:spcBef>
              <a:spcAft>
                <a:spcPts val="0"/>
              </a:spcAft>
              <a:buClr>
                <a:schemeClr val="dk1"/>
              </a:buClr>
              <a:buSzPts val="2400"/>
              <a:buFont typeface="Calibri"/>
              <a:buNone/>
            </a:pPr>
            <a:r>
              <a:t/>
            </a:r>
            <a:endParaRPr/>
          </a:p>
          <a:p>
            <a:pPr indent="0" lvl="0" marL="0" rtl="0" algn="l">
              <a:lnSpc>
                <a:spcPct val="90000"/>
              </a:lnSpc>
              <a:spcBef>
                <a:spcPts val="1000"/>
              </a:spcBef>
              <a:spcAft>
                <a:spcPts val="0"/>
              </a:spcAft>
              <a:buClr>
                <a:schemeClr val="dk1"/>
              </a:buClr>
              <a:buSzPts val="2400"/>
              <a:buNone/>
            </a:pPr>
            <a:r>
              <a:t/>
            </a:r>
            <a:endParaRPr/>
          </a:p>
        </p:txBody>
      </p:sp>
      <p:pic>
        <p:nvPicPr>
          <p:cNvPr id="141" name="Google Shape;141;p8"/>
          <p:cNvPicPr preferRelativeResize="0"/>
          <p:nvPr/>
        </p:nvPicPr>
        <p:blipFill rotWithShape="1">
          <a:blip r:embed="rId4">
            <a:alphaModFix/>
          </a:blip>
          <a:srcRect b="0" l="0" r="0" t="0"/>
          <a:stretch/>
        </p:blipFill>
        <p:spPr>
          <a:xfrm>
            <a:off x="2865799" y="4387409"/>
            <a:ext cx="2915569" cy="1143908"/>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352"/>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9"/>
          <p:cNvPicPr preferRelativeResize="0"/>
          <p:nvPr/>
        </p:nvPicPr>
        <p:blipFill rotWithShape="1">
          <a:blip r:embed="rId3">
            <a:alphaModFix amt="35000"/>
          </a:blip>
          <a:srcRect b="0" l="0" r="0" t="0"/>
          <a:stretch/>
        </p:blipFill>
        <p:spPr>
          <a:xfrm>
            <a:off x="432620" y="0"/>
            <a:ext cx="10589342" cy="6858001"/>
          </a:xfrm>
          <a:prstGeom prst="rect">
            <a:avLst/>
          </a:prstGeom>
          <a:noFill/>
          <a:ln>
            <a:noFill/>
          </a:ln>
        </p:spPr>
      </p:pic>
      <p:sp>
        <p:nvSpPr>
          <p:cNvPr id="147" name="Google Shape;147;p9"/>
          <p:cNvSpPr txBox="1"/>
          <p:nvPr/>
        </p:nvSpPr>
        <p:spPr>
          <a:xfrm>
            <a:off x="1347000" y="898225"/>
            <a:ext cx="10681200" cy="4525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Steps to Calculate BMI: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2000"/>
              <a:buFont typeface="Calibri"/>
              <a:buAutoNum type="arabicPeriod"/>
            </a:pPr>
            <a:r>
              <a:rPr b="1" i="0" lang="en-US" sz="2000" u="none" cap="none" strike="noStrike">
                <a:solidFill>
                  <a:schemeClr val="dk1"/>
                </a:solidFill>
                <a:latin typeface="Calibri"/>
                <a:ea typeface="Calibri"/>
                <a:cs typeface="Calibri"/>
                <a:sym typeface="Calibri"/>
              </a:rPr>
              <a:t>Measure Weight</a:t>
            </a:r>
            <a:r>
              <a:rPr b="0" i="0" lang="en-US" sz="2000" u="none" cap="none" strike="noStrike">
                <a:solidFill>
                  <a:schemeClr val="dk1"/>
                </a:solidFill>
                <a:latin typeface="Calibri"/>
                <a:ea typeface="Calibri"/>
                <a:cs typeface="Calibri"/>
                <a:sym typeface="Calibri"/>
              </a:rPr>
              <a:t>: Record your weight in kilograms (kg).</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Calibri"/>
              <a:buAutoNum type="arabicPeriod"/>
            </a:pPr>
            <a:r>
              <a:rPr b="1" i="0" lang="en-US" sz="2000" u="none" cap="none" strike="noStrike">
                <a:solidFill>
                  <a:schemeClr val="dk1"/>
                </a:solidFill>
                <a:latin typeface="Calibri"/>
                <a:ea typeface="Calibri"/>
                <a:cs typeface="Calibri"/>
                <a:sym typeface="Calibri"/>
              </a:rPr>
              <a:t>Measure Height</a:t>
            </a:r>
            <a:r>
              <a:rPr b="0" i="0" lang="en-US" sz="2000" u="none" cap="none" strike="noStrike">
                <a:solidFill>
                  <a:schemeClr val="dk1"/>
                </a:solidFill>
                <a:latin typeface="Calibri"/>
                <a:ea typeface="Calibri"/>
                <a:cs typeface="Calibri"/>
                <a:sym typeface="Calibri"/>
              </a:rPr>
              <a:t>: Record your height in meters (m).</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Calibri"/>
              <a:buAutoNum type="arabicPeriod"/>
            </a:pPr>
            <a:r>
              <a:rPr b="1" i="0" lang="en-US" sz="2000" u="none" cap="none" strike="noStrike">
                <a:solidFill>
                  <a:schemeClr val="dk1"/>
                </a:solidFill>
                <a:latin typeface="Calibri"/>
                <a:ea typeface="Calibri"/>
                <a:cs typeface="Calibri"/>
                <a:sym typeface="Calibri"/>
              </a:rPr>
              <a:t>Calculate BMI</a:t>
            </a:r>
            <a:r>
              <a:rPr b="0" i="0" lang="en-US" sz="2000" u="none" cap="none" strike="noStrike">
                <a:solidFill>
                  <a:schemeClr val="dk1"/>
                </a:solidFill>
                <a:latin typeface="Calibri"/>
                <a:ea typeface="Calibri"/>
                <a:cs typeface="Calibri"/>
                <a:sym typeface="Calibri"/>
              </a:rPr>
              <a:t>: Divide your weight by the square of your height</a:t>
            </a:r>
            <a:r>
              <a:rPr b="0" i="0" lang="en-US"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BMI Categories: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2000"/>
              <a:buFont typeface="Arial"/>
              <a:buChar char="•"/>
            </a:pPr>
            <a:r>
              <a:rPr b="1" i="0" lang="en-US" sz="2000" u="none" cap="none" strike="noStrike">
                <a:solidFill>
                  <a:schemeClr val="dk1"/>
                </a:solidFill>
                <a:latin typeface="Calibri"/>
                <a:ea typeface="Calibri"/>
                <a:cs typeface="Calibri"/>
                <a:sym typeface="Calibri"/>
              </a:rPr>
              <a:t>Underweight</a:t>
            </a:r>
            <a:r>
              <a:rPr b="0" i="0" lang="en-US" sz="2000" u="none" cap="none" strike="noStrike">
                <a:solidFill>
                  <a:schemeClr val="dk1"/>
                </a:solidFill>
                <a:latin typeface="Calibri"/>
                <a:ea typeface="Calibri"/>
                <a:cs typeface="Calibri"/>
                <a:sym typeface="Calibri"/>
              </a:rPr>
              <a:t>: BMI &lt; 18.5</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Char char="•"/>
            </a:pPr>
            <a:r>
              <a:rPr b="1" i="0" lang="en-US" sz="2000" u="none" cap="none" strike="noStrike">
                <a:solidFill>
                  <a:schemeClr val="dk1"/>
                </a:solidFill>
                <a:latin typeface="Calibri"/>
                <a:ea typeface="Calibri"/>
                <a:cs typeface="Calibri"/>
                <a:sym typeface="Calibri"/>
              </a:rPr>
              <a:t>Normal weight</a:t>
            </a:r>
            <a:r>
              <a:rPr b="0" i="0" lang="en-US" sz="2000" u="none" cap="none" strike="noStrike">
                <a:solidFill>
                  <a:schemeClr val="dk1"/>
                </a:solidFill>
                <a:latin typeface="Calibri"/>
                <a:ea typeface="Calibri"/>
                <a:cs typeface="Calibri"/>
                <a:sym typeface="Calibri"/>
              </a:rPr>
              <a:t>: BMI 18.5 - 24.9</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Char char="•"/>
            </a:pPr>
            <a:r>
              <a:rPr b="1" i="0" lang="en-US" sz="2000" u="none" cap="none" strike="noStrike">
                <a:solidFill>
                  <a:schemeClr val="dk1"/>
                </a:solidFill>
                <a:latin typeface="Calibri"/>
                <a:ea typeface="Calibri"/>
                <a:cs typeface="Calibri"/>
                <a:sym typeface="Calibri"/>
              </a:rPr>
              <a:t>Overweight</a:t>
            </a:r>
            <a:r>
              <a:rPr b="0" i="0" lang="en-US" sz="2000" u="none" cap="none" strike="noStrike">
                <a:solidFill>
                  <a:schemeClr val="dk1"/>
                </a:solidFill>
                <a:latin typeface="Calibri"/>
                <a:ea typeface="Calibri"/>
                <a:cs typeface="Calibri"/>
                <a:sym typeface="Calibri"/>
              </a:rPr>
              <a:t>: BMI 25 - 29.9</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Char char="•"/>
            </a:pPr>
            <a:r>
              <a:rPr b="1" i="0" lang="en-US" sz="2000" u="none" cap="none" strike="noStrike">
                <a:solidFill>
                  <a:schemeClr val="dk1"/>
                </a:solidFill>
                <a:latin typeface="Calibri"/>
                <a:ea typeface="Calibri"/>
                <a:cs typeface="Calibri"/>
                <a:sym typeface="Calibri"/>
              </a:rPr>
              <a:t>Obese</a:t>
            </a:r>
            <a:r>
              <a:rPr b="0" i="0" lang="en-US" sz="2000" u="none" cap="none" strike="noStrike">
                <a:solidFill>
                  <a:schemeClr val="dk1"/>
                </a:solidFill>
                <a:latin typeface="Calibri"/>
                <a:ea typeface="Calibri"/>
                <a:cs typeface="Calibri"/>
                <a:sym typeface="Calibri"/>
              </a:rPr>
              <a:t>: BMI ≥ 30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10"/>
          <p:cNvPicPr preferRelativeResize="0"/>
          <p:nvPr/>
        </p:nvPicPr>
        <p:blipFill rotWithShape="1">
          <a:blip r:embed="rId3">
            <a:alphaModFix amt="35000"/>
          </a:blip>
          <a:srcRect b="0" l="0" r="0" t="0"/>
          <a:stretch/>
        </p:blipFill>
        <p:spPr>
          <a:xfrm>
            <a:off x="432620" y="0"/>
            <a:ext cx="10589342" cy="6858001"/>
          </a:xfrm>
          <a:prstGeom prst="rect">
            <a:avLst/>
          </a:prstGeom>
          <a:noFill/>
          <a:ln>
            <a:noFill/>
          </a:ln>
        </p:spPr>
      </p:pic>
      <p:sp>
        <p:nvSpPr>
          <p:cNvPr id="153" name="Google Shape;153;p10"/>
          <p:cNvSpPr txBox="1"/>
          <p:nvPr>
            <p:ph type="ctrTitle"/>
          </p:nvPr>
        </p:nvSpPr>
        <p:spPr>
          <a:xfrm>
            <a:off x="-412953" y="0"/>
            <a:ext cx="8052619" cy="1542179"/>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en-US"/>
              <a:t>Data Cleaning</a:t>
            </a:r>
            <a:endParaRPr/>
          </a:p>
        </p:txBody>
      </p:sp>
      <p:sp>
        <p:nvSpPr>
          <p:cNvPr id="154" name="Google Shape;154;p10"/>
          <p:cNvSpPr txBox="1"/>
          <p:nvPr>
            <p:ph idx="1" type="subTitle"/>
          </p:nvPr>
        </p:nvSpPr>
        <p:spPr>
          <a:xfrm>
            <a:off x="1351935" y="2001836"/>
            <a:ext cx="9488130" cy="2238325"/>
          </a:xfrm>
          <a:prstGeom prst="rect">
            <a:avLst/>
          </a:prstGeom>
          <a:noFill/>
          <a:ln>
            <a:noFill/>
          </a:ln>
        </p:spPr>
        <p:txBody>
          <a:bodyPr anchorCtr="0" anchor="t" bIns="45700" lIns="91425" spcFirstLastPara="1" rIns="91425" wrap="square" tIns="45700">
            <a:normAutofit/>
          </a:bodyPr>
          <a:lstStyle/>
          <a:p>
            <a:pPr indent="-342900" lvl="0" marL="342900" rtl="0" algn="ctr">
              <a:lnSpc>
                <a:spcPct val="90000"/>
              </a:lnSpc>
              <a:spcBef>
                <a:spcPts val="0"/>
              </a:spcBef>
              <a:spcAft>
                <a:spcPts val="0"/>
              </a:spcAft>
              <a:buClr>
                <a:schemeClr val="dk1"/>
              </a:buClr>
              <a:buSzPts val="2400"/>
              <a:buFont typeface="Arial"/>
              <a:buChar char="•"/>
            </a:pPr>
            <a:r>
              <a:rPr lang="en-US"/>
              <a:t>The dataset was imported into Microsoft Excel for initial processing, where data cleaning involved identifying and addressing errors, inconsistencies, and  missing values for data integrity.</a:t>
            </a:r>
            <a:endParaRPr/>
          </a:p>
          <a:p>
            <a:pPr indent="-342900" lvl="0" marL="342900" rtl="0" algn="ctr">
              <a:lnSpc>
                <a:spcPct val="90000"/>
              </a:lnSpc>
              <a:spcBef>
                <a:spcPts val="1000"/>
              </a:spcBef>
              <a:spcAft>
                <a:spcPts val="0"/>
              </a:spcAft>
              <a:buClr>
                <a:schemeClr val="dk1"/>
              </a:buClr>
              <a:buSzPts val="2400"/>
              <a:buFont typeface="Arial"/>
              <a:buChar char="•"/>
            </a:pPr>
            <a:r>
              <a:rPr lang="en-US"/>
              <a:t>Formatting issues were corrected, duplicates removed, and negative values converted to positive to ensure accurate calculations.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11"/>
          <p:cNvPicPr preferRelativeResize="0"/>
          <p:nvPr/>
        </p:nvPicPr>
        <p:blipFill rotWithShape="1">
          <a:blip r:embed="rId3">
            <a:alphaModFix amt="35000"/>
          </a:blip>
          <a:srcRect b="0" l="0" r="0" t="0"/>
          <a:stretch/>
        </p:blipFill>
        <p:spPr>
          <a:xfrm>
            <a:off x="432620" y="0"/>
            <a:ext cx="10589342" cy="6858001"/>
          </a:xfrm>
          <a:prstGeom prst="rect">
            <a:avLst/>
          </a:prstGeom>
          <a:noFill/>
          <a:ln>
            <a:noFill/>
          </a:ln>
        </p:spPr>
      </p:pic>
      <p:sp>
        <p:nvSpPr>
          <p:cNvPr id="160" name="Google Shape;160;p11"/>
          <p:cNvSpPr txBox="1"/>
          <p:nvPr>
            <p:ph type="title"/>
          </p:nvPr>
        </p:nvSpPr>
        <p:spPr>
          <a:xfrm>
            <a:off x="1186813" y="399789"/>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b="1" lang="en-US" sz="6000"/>
              <a:t>General Questions</a:t>
            </a:r>
            <a:endParaRPr/>
          </a:p>
        </p:txBody>
      </p:sp>
      <p:sp>
        <p:nvSpPr>
          <p:cNvPr id="161" name="Google Shape;161;p11"/>
          <p:cNvSpPr txBox="1"/>
          <p:nvPr>
            <p:ph idx="1" type="body"/>
          </p:nvPr>
        </p:nvSpPr>
        <p:spPr>
          <a:xfrm>
            <a:off x="1827300" y="1809328"/>
            <a:ext cx="9699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What is the max and min age, BMI, children and Premium charges of the customer?</a:t>
            </a:r>
            <a:endParaRPr/>
          </a:p>
          <a:p>
            <a:pPr indent="-228600" lvl="0" marL="228600" rtl="0" algn="l">
              <a:lnSpc>
                <a:spcPct val="90000"/>
              </a:lnSpc>
              <a:spcBef>
                <a:spcPts val="1000"/>
              </a:spcBef>
              <a:spcAft>
                <a:spcPts val="0"/>
              </a:spcAft>
              <a:buClr>
                <a:schemeClr val="dk1"/>
              </a:buClr>
              <a:buSzPts val="2400"/>
              <a:buChar char="•"/>
            </a:pPr>
            <a:r>
              <a:rPr lang="en-US" sz="2400"/>
              <a:t>What is the total number of smoker &amp; non-smoker and female &amp; males?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12"/>
          <p:cNvPicPr preferRelativeResize="0"/>
          <p:nvPr/>
        </p:nvPicPr>
        <p:blipFill rotWithShape="1">
          <a:blip r:embed="rId3">
            <a:alphaModFix amt="35000"/>
          </a:blip>
          <a:srcRect b="0" l="0" r="0" t="0"/>
          <a:stretch/>
        </p:blipFill>
        <p:spPr>
          <a:xfrm>
            <a:off x="432620" y="0"/>
            <a:ext cx="10589342" cy="6858001"/>
          </a:xfrm>
          <a:prstGeom prst="rect">
            <a:avLst/>
          </a:prstGeom>
          <a:noFill/>
          <a:ln>
            <a:noFill/>
          </a:ln>
        </p:spPr>
      </p:pic>
      <p:sp>
        <p:nvSpPr>
          <p:cNvPr id="167" name="Google Shape;167;p12"/>
          <p:cNvSpPr txBox="1"/>
          <p:nvPr>
            <p:ph type="title"/>
          </p:nvPr>
        </p:nvSpPr>
        <p:spPr>
          <a:xfrm>
            <a:off x="961350" y="345000"/>
            <a:ext cx="10913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b="1" lang="en-US" sz="6000"/>
              <a:t>Specific Question</a:t>
            </a:r>
            <a:endParaRPr/>
          </a:p>
        </p:txBody>
      </p:sp>
      <p:sp>
        <p:nvSpPr>
          <p:cNvPr id="168" name="Google Shape;168;p12"/>
          <p:cNvSpPr txBox="1"/>
          <p:nvPr>
            <p:ph idx="1" type="body"/>
          </p:nvPr>
        </p:nvSpPr>
        <p:spPr>
          <a:xfrm>
            <a:off x="1553496" y="1670563"/>
            <a:ext cx="9930581"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How many males and females fall into specific BMI categories?</a:t>
            </a:r>
            <a:endParaRPr/>
          </a:p>
          <a:p>
            <a:pPr indent="-228600" lvl="0" marL="228600" rtl="0" algn="l">
              <a:lnSpc>
                <a:spcPct val="90000"/>
              </a:lnSpc>
              <a:spcBef>
                <a:spcPts val="1000"/>
              </a:spcBef>
              <a:spcAft>
                <a:spcPts val="0"/>
              </a:spcAft>
              <a:buClr>
                <a:schemeClr val="dk1"/>
              </a:buClr>
              <a:buSzPts val="2400"/>
              <a:buChar char="•"/>
            </a:pPr>
            <a:r>
              <a:rPr lang="en-US" sz="2400"/>
              <a:t>How many individuals (regardless of gender) fall into each BMI category based on their smoking status?</a:t>
            </a:r>
            <a:endParaRPr/>
          </a:p>
          <a:p>
            <a:pPr indent="-228600" lvl="0" marL="228600" rtl="0" algn="l">
              <a:lnSpc>
                <a:spcPct val="90000"/>
              </a:lnSpc>
              <a:spcBef>
                <a:spcPts val="1000"/>
              </a:spcBef>
              <a:spcAft>
                <a:spcPts val="0"/>
              </a:spcAft>
              <a:buClr>
                <a:schemeClr val="dk1"/>
              </a:buClr>
              <a:buSzPts val="2400"/>
              <a:buChar char="•"/>
            </a:pPr>
            <a:r>
              <a:rPr lang="en-US" sz="2400"/>
              <a:t>Find the average charges according to gender and smoking status?</a:t>
            </a:r>
            <a:endParaRPr/>
          </a:p>
          <a:p>
            <a:pPr indent="-228600" lvl="0" marL="228600" rtl="0" algn="l">
              <a:lnSpc>
                <a:spcPct val="90000"/>
              </a:lnSpc>
              <a:spcBef>
                <a:spcPts val="1000"/>
              </a:spcBef>
              <a:spcAft>
                <a:spcPts val="0"/>
              </a:spcAft>
              <a:buClr>
                <a:schemeClr val="dk1"/>
              </a:buClr>
              <a:buSzPts val="2400"/>
              <a:buChar char="•"/>
            </a:pPr>
            <a:r>
              <a:rPr lang="en-US" sz="2400"/>
              <a:t>Find customers who’s BMI &lt;30 &amp; BMI &gt;=30 according to their gender and smoking status?</a:t>
            </a:r>
            <a:endParaRPr/>
          </a:p>
          <a:p>
            <a:pPr indent="-228600" lvl="0" marL="228600" rtl="0" algn="l">
              <a:lnSpc>
                <a:spcPct val="90000"/>
              </a:lnSpc>
              <a:spcBef>
                <a:spcPts val="1000"/>
              </a:spcBef>
              <a:spcAft>
                <a:spcPts val="0"/>
              </a:spcAft>
              <a:buClr>
                <a:schemeClr val="dk1"/>
              </a:buClr>
              <a:buSzPts val="2400"/>
              <a:buChar char="•"/>
            </a:pPr>
            <a:r>
              <a:rPr lang="en-US" sz="2400"/>
              <a:t>Create a procedure to use as calculator to input your BMI and check your Health Status and premium charge.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g36f9e918161_0_8"/>
          <p:cNvPicPr preferRelativeResize="0"/>
          <p:nvPr/>
        </p:nvPicPr>
        <p:blipFill rotWithShape="1">
          <a:blip r:embed="rId3">
            <a:alphaModFix amt="35000"/>
          </a:blip>
          <a:srcRect b="0" l="0" r="0" t="0"/>
          <a:stretch/>
        </p:blipFill>
        <p:spPr>
          <a:xfrm>
            <a:off x="432620" y="0"/>
            <a:ext cx="10589342" cy="6858001"/>
          </a:xfrm>
          <a:prstGeom prst="rect">
            <a:avLst/>
          </a:prstGeom>
          <a:noFill/>
          <a:ln>
            <a:noFill/>
          </a:ln>
        </p:spPr>
      </p:pic>
      <p:sp>
        <p:nvSpPr>
          <p:cNvPr id="175" name="Google Shape;175;g36f9e918161_0_8"/>
          <p:cNvSpPr txBox="1"/>
          <p:nvPr>
            <p:ph type="title"/>
          </p:nvPr>
        </p:nvSpPr>
        <p:spPr>
          <a:xfrm>
            <a:off x="1140025" y="432200"/>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6000"/>
              <a:t>Conclusion</a:t>
            </a:r>
            <a:endParaRPr/>
          </a:p>
        </p:txBody>
      </p:sp>
      <p:sp>
        <p:nvSpPr>
          <p:cNvPr id="176" name="Google Shape;176;g36f9e918161_0_8"/>
          <p:cNvSpPr txBox="1"/>
          <p:nvPr>
            <p:ph idx="1" type="body"/>
          </p:nvPr>
        </p:nvSpPr>
        <p:spPr>
          <a:xfrm>
            <a:off x="1911325" y="1875250"/>
            <a:ext cx="95970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lang="en-US" sz="2400"/>
              <a:t>The analysis of insurance data using MySQL and Excel revealed key factors affecting insurance charges. Results show that smokers, individuals with high BMI, and those over 40 years tend to pay higher premiums. A BMI calculator was also developed to categorize health risks. These insights support better, data-driven decisions for risk-based pricing in the insurance sector.</a:t>
            </a:r>
            <a:endParaRPr sz="11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g34118d86ed3_0_2"/>
          <p:cNvPicPr preferRelativeResize="0"/>
          <p:nvPr/>
        </p:nvPicPr>
        <p:blipFill rotWithShape="1">
          <a:blip r:embed="rId3">
            <a:alphaModFix amt="35000"/>
          </a:blip>
          <a:srcRect b="0" l="0" r="0" t="0"/>
          <a:stretch/>
        </p:blipFill>
        <p:spPr>
          <a:xfrm>
            <a:off x="664932" y="0"/>
            <a:ext cx="10589342" cy="6858001"/>
          </a:xfrm>
          <a:prstGeom prst="rect">
            <a:avLst/>
          </a:prstGeom>
          <a:noFill/>
          <a:ln>
            <a:noFill/>
          </a:ln>
          <a:effectLst>
            <a:outerShdw blurRad="57150" rotWithShape="0" algn="bl" dir="5400000" dist="19050">
              <a:srgbClr val="FFFFFF">
                <a:alpha val="49803"/>
              </a:srgbClr>
            </a:outerShdw>
          </a:effectLst>
        </p:spPr>
      </p:pic>
      <p:sp>
        <p:nvSpPr>
          <p:cNvPr id="183" name="Google Shape;183;g34118d86ed3_0_2"/>
          <p:cNvSpPr txBox="1"/>
          <p:nvPr>
            <p:ph idx="1" type="body"/>
          </p:nvPr>
        </p:nvSpPr>
        <p:spPr>
          <a:xfrm>
            <a:off x="0" y="0"/>
            <a:ext cx="12192000" cy="685800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1000"/>
              </a:spcBef>
              <a:spcAft>
                <a:spcPts val="0"/>
              </a:spcAft>
              <a:buSzPts val="1800"/>
              <a:buNone/>
            </a:pPr>
            <a:r>
              <a:rPr b="1" lang="en-US" sz="5300"/>
              <a:t>Thank You!</a:t>
            </a:r>
            <a:endParaRPr b="1" sz="53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2024-08-03T10:22:55Z</dcterms:created>
  <dc:creator>khushipainter410@gmail.com</dc:creator>
</cp:coreProperties>
</file>